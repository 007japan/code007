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9728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LP冒頭。写真はAI生成のイメージであり実際のスタッフではありません。連絡先未定のためCTAは問い合わせセクションへの案内です。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専門性・料金の明確さ・相談時の配慮を伝えるセクション。実績数・口コミ・保証など、未提供の情報は創作していません。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ご提供の指示書に基づくサービス案内。資格の正式名称・種類、探偵業の届出先・番号、工事・処分・運搬・撮影・各種代行の対応範囲は公開前に事業者が確認してください。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ご提供の指示書に基づくサービス案内。資格の正式名称・種類、探偵業の届出先・番号、工事・処分・運搬・撮影・各種代行の対応範囲は公開前に事業者が確認してください。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ユーザー確認済み：全料金は税別。最低総額や無料相談、追加料金なし等の未提供条件は記載していません。出張費と作業費は別項目です。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支払時期・支払手段・キャンセル規定は未提供のため、実際の運用確認後に追記してください。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FAQの回答は指示書の内容をもとに整理した案です。相談料・キャンセル・支払い条件等、未確定の事業条件は断定していません。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連絡先はユーザー指定で未定。番号・メール・LINE URLは捏造せず準備中と表記。公開前に正式連絡先とリンク、探偵業の届出情報、プライバシーポリシー、対応条件を確認。HTML版の末尾に情報取扱い案を記載しています。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slide" Target="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0" cy="792480"/>
          </a:xfrm>
          <a:prstGeom prst="rect">
            <a:avLst/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89560"/>
            <a:ext cx="274320" cy="22098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20980"/>
            <a:ext cx="76200" cy="11430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8660" y="220980"/>
            <a:ext cx="76200" cy="11430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7720" y="220980"/>
            <a:ext cx="76200" cy="11430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8660" y="388620"/>
            <a:ext cx="76200" cy="121920"/>
          </a:xfrm>
          <a:prstGeom prst="roundRect">
            <a:avLst>
              <a:gd name="adj" fmla="val 3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7710" y="441960"/>
            <a:ext cx="38100" cy="38100"/>
          </a:xfrm>
          <a:prstGeom prst="ellipse">
            <a:avLst/>
          </a:prstGeom>
          <a:solidFill>
            <a:srgbClr val="C95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8219" y="213360"/>
            <a:ext cx="2209800" cy="12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lang="ja-JP">
                <a:solidFill>
                  <a:srgbClr val="172F37"/>
                </a:solidFill>
                <a:latin typeface="Noto Sans JP"/>
                <a:ea typeface="Noto Sans JP"/>
              </a:rPr>
              <a:t>便利屋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8219" y="320040"/>
            <a:ext cx="23622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ja-JP">
                <a:solidFill>
                  <a:srgbClr val="172F37"/>
                </a:solidFill>
                <a:latin typeface="Noto Sans JP"/>
                <a:ea typeface="Noto Sans JP"/>
              </a:rPr>
              <a:t>サイゴノトリデ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42900"/>
            <a:ext cx="12192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lang="ja-JP">
                <a:solidFill>
                  <a:srgbClr val="172F37"/>
                </a:solidFill>
                <a:latin typeface="Noto Sans JP"/>
                <a:ea typeface="Noto Sans JP"/>
              </a:rPr>
              <a:t>できること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1400" y="342900"/>
            <a:ext cx="12192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lang="ja-JP">
                <a:solidFill>
                  <a:srgbClr val="172F37"/>
                </a:solidFill>
                <a:latin typeface="Noto Sans JP"/>
                <a:ea typeface="Noto Sans JP"/>
              </a:rPr>
              <a:t>料金の目安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0600" y="342900"/>
            <a:ext cx="12192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lang="ja-JP">
                <a:solidFill>
                  <a:srgbClr val="172F37"/>
                </a:solidFill>
                <a:latin typeface="Noto Sans JP"/>
                <a:ea typeface="Noto Sans JP"/>
              </a:rPr>
              <a:t>ご利用の流れ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" y="784860"/>
            <a:ext cx="975360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hero.png"/>
          <p:cNvPicPr>
            <a:picLocks noChangeAspect="1"/>
          </p:cNvPicPr>
          <p:nvPr/>
        </p:nvPicPr>
        <p:blipFill>
          <a:blip r:embed="rId2"/>
          <a:srcRect l="20000" r="10000"/>
          <a:stretch>
            <a:fillRect/>
          </a:stretch>
        </p:blipFill>
        <p:spPr>
          <a:xfrm>
            <a:off x="5638800" y="792480"/>
            <a:ext cx="5334000" cy="50901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792480"/>
            <a:ext cx="5715000" cy="509016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125730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172F37"/>
                </a:solidFill>
                <a:latin typeface="Noto Sans JP"/>
                <a:ea typeface="Noto Sans JP"/>
              </a:rPr>
              <a:t>—　「ちょっとだけ」でも、大丈夫。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737360"/>
            <a:ext cx="6172200" cy="792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 lang="ja-JP">
                <a:solidFill>
                  <a:srgbClr val="172F37"/>
                </a:solidFill>
                <a:latin typeface="Noto Sans JP"/>
                <a:ea typeface="Noto Sans JP"/>
              </a:rPr>
              <a:t>その困りごとに、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2514600"/>
            <a:ext cx="4953000" cy="792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320" b="1" lang="ja-JP">
                <a:solidFill>
                  <a:srgbClr val="C95532"/>
                </a:solidFill>
                <a:latin typeface="Noto Sans JP"/>
                <a:ea typeface="Noto Sans JP"/>
              </a:rPr>
              <a:t>最後の砦を。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43300"/>
            <a:ext cx="4762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172F37"/>
                </a:solidFill>
                <a:latin typeface="Noto Sans JP"/>
                <a:ea typeface="Noto Sans JP"/>
              </a:rPr>
              <a:t>スマホの不調も、小さな工事も、人に話しにくい悩みも。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172F37"/>
                </a:solidFill>
                <a:latin typeface="Noto Sans JP"/>
                <a:ea typeface="Noto Sans JP"/>
              </a:rPr>
              <a:t>専門性が必要な「ちょっと困った」に、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172F37"/>
                </a:solidFill>
                <a:latin typeface="Noto Sans JP"/>
                <a:ea typeface="Noto Sans JP"/>
              </a:rPr>
              <a:t>ひとつの窓口で向き合います。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40080" y="4579620"/>
            <a:ext cx="2552700" cy="502920"/>
          </a:xfrm>
          <a:prstGeom prst="roundRect">
            <a:avLst>
              <a:gd name="adj" fmla="val 50000"/>
            </a:avLst>
          </a:prstGeom>
          <a:solidFill>
            <a:srgbClr val="C95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" y="4724400"/>
            <a:ext cx="1905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lang="ja-JP">
                <a:solidFill>
                  <a:srgbClr val="FFFEFA"/>
                </a:solidFill>
                <a:latin typeface="Noto Sans JP"/>
                <a:ea typeface="Noto Sans JP"/>
              </a:rPr>
              <a:t>まずは、話してみる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4160" y="4701540"/>
            <a:ext cx="24384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lang="ja-JP">
                <a:solidFill>
                  <a:srgbClr val="FFFEFA"/>
                </a:solidFill>
                <a:latin typeface="Noto Sans JP"/>
                <a:ea typeface="Noto Sans JP"/>
              </a:rPr>
              <a:t>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95900"/>
            <a:ext cx="1409700" cy="274320"/>
          </a:xfrm>
          <a:prstGeom prst="roundRect">
            <a:avLst>
              <a:gd name="adj" fmla="val 3000"/>
            </a:avLst>
          </a:prstGeom>
          <a:solidFill>
            <a:srgbClr val="FFFEFA"/>
          </a:solidFill>
          <a:ln w="7620">
            <a:solidFill>
              <a:srgbClr val="D8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900" y="5356860"/>
            <a:ext cx="1257300" cy="175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172F37"/>
                </a:solidFill>
                <a:latin typeface="Noto Sans JP"/>
                <a:ea typeface="Noto Sans JP"/>
              </a:rPr>
              <a:t>✓ 小さな依頼から相談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5295900"/>
            <a:ext cx="1409700" cy="274320"/>
          </a:xfrm>
          <a:prstGeom prst="roundRect">
            <a:avLst>
              <a:gd name="adj" fmla="val 3000"/>
            </a:avLst>
          </a:prstGeom>
          <a:solidFill>
            <a:srgbClr val="FFFEFA"/>
          </a:solidFill>
          <a:ln w="7620">
            <a:solidFill>
              <a:srgbClr val="D8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2660" y="5356860"/>
            <a:ext cx="1257300" cy="175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172F37"/>
                </a:solidFill>
                <a:latin typeface="Noto Sans JP"/>
                <a:ea typeface="Noto Sans JP"/>
              </a:rPr>
              <a:t>✓ 作業前に見積提示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5295900"/>
            <a:ext cx="1333500" cy="274320"/>
          </a:xfrm>
          <a:prstGeom prst="roundRect">
            <a:avLst>
              <a:gd name="adj" fmla="val 3000"/>
            </a:avLst>
          </a:prstGeom>
          <a:solidFill>
            <a:srgbClr val="FFFEFA"/>
          </a:solidFill>
          <a:ln w="7620">
            <a:solidFill>
              <a:srgbClr val="D8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1420" y="5356860"/>
            <a:ext cx="1181100" cy="175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172F37"/>
                </a:solidFill>
                <a:latin typeface="Noto Sans JP"/>
                <a:ea typeface="Noto Sans JP"/>
              </a:rPr>
              <a:t>✓ 秘密保持に配慮</a:t>
            </a:r>
          </a:p>
        </p:txBody>
      </p:sp>
      <p:sp>
        <p:nvSpPr>
          <p:cNvPr id="30" name="Oval 29"/>
          <p:cNvSpPr/>
          <p:nvPr/>
        </p:nvSpPr>
        <p:spPr>
          <a:xfrm>
            <a:off x="9715500" y="1005840"/>
            <a:ext cx="868680" cy="868680"/>
          </a:xfrm>
          <a:prstGeom prst="ellipse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219200"/>
            <a:ext cx="73152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lang="ja-JP">
                <a:solidFill>
                  <a:srgbClr val="FFFEFA"/>
                </a:solidFill>
                <a:latin typeface="Noto Sans JP"/>
                <a:ea typeface="Noto Sans JP"/>
              </a:rPr>
              <a:t>神奈川・三浦から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1417320"/>
            <a:ext cx="73152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ja-JP">
                <a:solidFill>
                  <a:srgbClr val="FFFEFA"/>
                </a:solidFill>
                <a:latin typeface="Noto Sans JP"/>
                <a:ea typeface="Noto Sans JP"/>
              </a:rPr>
              <a:t>全国対応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0" y="566166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lang="ja-JP">
                <a:solidFill>
                  <a:srgbClr val="FFFEFA"/>
                </a:solidFill>
                <a:latin typeface="Noto Sans JP"/>
                <a:ea typeface="Noto Sans JP"/>
              </a:rPr>
              <a:t>写真はイメージです（AI生成）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882640"/>
            <a:ext cx="10972800" cy="97536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6187440"/>
            <a:ext cx="4419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ja-JP">
                <a:solidFill>
                  <a:srgbClr val="FFFEFA"/>
                </a:solidFill>
                <a:latin typeface="Noto Sans JP"/>
                <a:ea typeface="Noto Sans JP"/>
              </a:rPr>
              <a:t>年中無休 9:00–24:00　｜　全国対応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6233160"/>
            <a:ext cx="32766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C7D3CC"/>
                </a:solidFill>
                <a:latin typeface="Noto Sans JP"/>
                <a:ea typeface="Noto Sans JP"/>
              </a:rPr>
              <a:t>便利屋サイゴノトリデ ／ デザイン案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C95532"/>
                </a:solidFill>
                <a:latin typeface="Noto Sans JP"/>
                <a:ea typeface="Noto Sans JP"/>
              </a:rPr>
              <a:t>YOUR LAST RESORT.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81100"/>
            <a:ext cx="4876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2820" b="1" lang="ja-JP">
                <a:solidFill>
                  <a:srgbClr val="172F37"/>
                </a:solidFill>
                <a:latin typeface="Noto Sans JP"/>
                <a:ea typeface="Noto Sans JP"/>
              </a:rPr>
              <a:t>「これだけでも、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2820" b="1" lang="ja-JP">
                <a:solidFill>
                  <a:srgbClr val="172F37"/>
                </a:solidFill>
                <a:latin typeface="Noto Sans JP"/>
                <a:ea typeface="Noto Sans JP"/>
              </a:rPr>
              <a:t>頼んでいいですか？」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0300" y="1188720"/>
            <a:ext cx="41909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lang="ja-JP">
                <a:solidFill>
                  <a:srgbClr val="172F37"/>
                </a:solidFill>
                <a:latin typeface="Noto Sans JP"/>
                <a:ea typeface="Noto Sans JP"/>
              </a:rPr>
              <a:t>そのひと言から、はじめましょう。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lang="ja-JP">
                <a:solidFill>
                  <a:srgbClr val="172F37"/>
                </a:solidFill>
                <a:latin typeface="Noto Sans JP"/>
                <a:ea typeface="Noto Sans JP"/>
              </a:rPr>
              <a:t>大がかりな依頼でなくても大丈夫。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lang="ja-JP">
                <a:solidFill>
                  <a:srgbClr val="172F37"/>
                </a:solidFill>
                <a:latin typeface="Noto Sans JP"/>
                <a:ea typeface="Noto Sans JP"/>
              </a:rPr>
              <a:t>小さな困りごとに、専門性で応える。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lang="ja-JP">
                <a:solidFill>
                  <a:srgbClr val="172F37"/>
                </a:solidFill>
                <a:latin typeface="Noto Sans JP"/>
                <a:ea typeface="Noto Sans JP"/>
              </a:rPr>
              <a:t>それが、サイゴノトリデの仕事です。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300" y="2819400"/>
            <a:ext cx="41148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「どこに頼めばいいか分からない」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「他で断られてしまった」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そんなときこそ、私たちにご相談ください。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00" y="4175760"/>
            <a:ext cx="3048000" cy="0"/>
          </a:xfrm>
          <a:prstGeom prst="line">
            <a:avLst/>
          </a:prstGeom>
          <a:ln w="7620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600" y="436626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C95532"/>
                </a:solidFill>
                <a:latin typeface="Noto Sans JP"/>
                <a:ea typeface="Noto Sans JP"/>
              </a:rPr>
              <a:t>01 / SPECIALTY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716780"/>
            <a:ext cx="3124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lang="ja-JP">
                <a:solidFill>
                  <a:srgbClr val="172F37"/>
                </a:solidFill>
                <a:latin typeface="Noto Sans JP"/>
                <a:ea typeface="Noto Sans JP"/>
              </a:rPr>
              <a:t>ひとつの窓口に、専門性を。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204460"/>
            <a:ext cx="3048000" cy="861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5D6A69"/>
                </a:solidFill>
                <a:latin typeface="Noto Sans JP"/>
                <a:ea typeface="Noto Sans JP"/>
              </a:rPr>
              <a:t>デジタル・調査・工事・代行まで。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5D6A69"/>
                </a:solidFill>
                <a:latin typeface="Noto Sans JP"/>
                <a:ea typeface="Noto Sans JP"/>
              </a:rPr>
              <a:t>保有資格や対応範囲を確認し、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5D6A69"/>
                </a:solidFill>
                <a:latin typeface="Noto Sans JP"/>
                <a:ea typeface="Noto Sans JP"/>
              </a:rPr>
              <a:t>できることをご案内します。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2399" y="4175760"/>
            <a:ext cx="3048001" cy="0"/>
          </a:xfrm>
          <a:prstGeom prst="line">
            <a:avLst/>
          </a:prstGeom>
          <a:ln w="7620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399" y="436626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C95532"/>
                </a:solidFill>
                <a:latin typeface="Noto Sans JP"/>
                <a:ea typeface="Noto Sans JP"/>
              </a:rPr>
              <a:t>02 / CLARITY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2399" y="4716780"/>
            <a:ext cx="3124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lang="ja-JP">
                <a:solidFill>
                  <a:srgbClr val="172F37"/>
                </a:solidFill>
                <a:latin typeface="Noto Sans JP"/>
                <a:ea typeface="Noto Sans JP"/>
              </a:rPr>
              <a:t>費用に納得してから、依頼。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399" y="5204460"/>
            <a:ext cx="3048000" cy="861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5D6A69"/>
                </a:solidFill>
                <a:latin typeface="Noto Sans JP"/>
                <a:ea typeface="Noto Sans JP"/>
              </a:rPr>
              <a:t>作業前に必ずお見積りをご提示。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5D6A69"/>
                </a:solidFill>
                <a:latin typeface="Noto Sans JP"/>
                <a:ea typeface="Noto Sans JP"/>
              </a:rPr>
              <a:t>内容と費用を確認したうえで、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5D6A69"/>
                </a:solidFill>
                <a:latin typeface="Noto Sans JP"/>
                <a:ea typeface="Noto Sans JP"/>
              </a:rPr>
              <a:t>依頼をご判断いただけます。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4175760"/>
            <a:ext cx="3048000" cy="0"/>
          </a:xfrm>
          <a:prstGeom prst="line">
            <a:avLst/>
          </a:prstGeom>
          <a:ln w="7620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0" y="4366260"/>
            <a:ext cx="304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C95532"/>
                </a:solidFill>
                <a:latin typeface="Noto Sans JP"/>
                <a:ea typeface="Noto Sans JP"/>
              </a:rPr>
              <a:t>03 /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716780"/>
            <a:ext cx="3124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lang="ja-JP">
                <a:solidFill>
                  <a:srgbClr val="172F37"/>
                </a:solidFill>
                <a:latin typeface="Noto Sans JP"/>
                <a:ea typeface="Noto Sans JP"/>
              </a:rPr>
              <a:t>話しにくいことほど、丁寧に。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204460"/>
            <a:ext cx="3048000" cy="861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5D6A69"/>
                </a:solidFill>
                <a:latin typeface="Noto Sans JP"/>
                <a:ea typeface="Noto Sans JP"/>
              </a:rPr>
              <a:t>ご相談内容と個人情報は適切に管理。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5D6A69"/>
                </a:solidFill>
                <a:latin typeface="Noto Sans JP"/>
                <a:ea typeface="Noto Sans JP"/>
              </a:rPr>
              <a:t>ご希望の連絡方法や時間帯も、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5D6A69"/>
                </a:solidFill>
                <a:latin typeface="Noto Sans JP"/>
                <a:ea typeface="Noto Sans JP"/>
              </a:rPr>
              <a:t>まずはお聞かせください。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" y="6438900"/>
            <a:ext cx="975360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9600" y="6553200"/>
            <a:ext cx="76200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lang="ja-JP">
                <a:solidFill>
                  <a:srgbClr val="5D6A69"/>
                </a:solidFill>
                <a:latin typeface="Noto Sans JP"/>
                <a:ea typeface="Noto Sans JP"/>
              </a:rPr>
              <a:t>SAIGONOTORIDE  /  LANDING PAGE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3600" y="6522720"/>
            <a:ext cx="60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5D6A69"/>
                </a:solidFill>
                <a:latin typeface="Noto Sans JP"/>
                <a:ea typeface="Noto Sans JP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006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C95532"/>
                </a:solidFill>
                <a:latin typeface="Noto Sans JP"/>
                <a:ea typeface="Noto Sans JP"/>
              </a:rPr>
              <a:t>WHAT WE CAN DO  /  01–02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92480"/>
            <a:ext cx="9753600" cy="655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 lang="ja-JP">
                <a:solidFill>
                  <a:srgbClr val="172F37"/>
                </a:solidFill>
                <a:latin typeface="Noto Sans JP"/>
                <a:ea typeface="Noto Sans JP"/>
              </a:rPr>
              <a:t>4つの「チョット」に、できることがあります。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706880"/>
            <a:ext cx="4762500" cy="4358640"/>
          </a:xfrm>
          <a:prstGeom prst="roundRect">
            <a:avLst>
              <a:gd name="adj" fmla="val 25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943100"/>
            <a:ext cx="164592" cy="294894"/>
          </a:xfrm>
          <a:prstGeom prst="roundRect">
            <a:avLst>
              <a:gd name="adj" fmla="val 3000"/>
            </a:avLst>
          </a:prstGeom>
          <a:solidFill>
            <a:srgbClr val="FFFEFA"/>
          </a:solidFill>
          <a:ln w="7620">
            <a:solidFill>
              <a:srgbClr val="172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16686" y="1984248"/>
            <a:ext cx="68580" cy="0"/>
          </a:xfrm>
          <a:prstGeom prst="line">
            <a:avLst/>
          </a:prstGeom>
          <a:ln w="11429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37259" y="2183130"/>
            <a:ext cx="27432" cy="27432"/>
          </a:xfrm>
          <a:prstGeom prst="ellipse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1278" y="2004822"/>
            <a:ext cx="198882" cy="192024"/>
          </a:xfrm>
          <a:prstGeom prst="rect">
            <a:avLst/>
          </a:prstGeom>
          <a:solidFill>
            <a:srgbClr val="FFFEFA"/>
          </a:solidFill>
          <a:ln w="7620">
            <a:solidFill>
              <a:srgbClr val="172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81278" y="2237994"/>
            <a:ext cx="198882" cy="0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4148" y="2196846"/>
            <a:ext cx="0" cy="41148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27220" y="1897380"/>
            <a:ext cx="65532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79" b="0" lang="ja-JP">
                <a:solidFill>
                  <a:srgbClr val="A7B2A5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9080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5D6A69"/>
                </a:solidFill>
                <a:latin typeface="Noto Sans JP"/>
                <a:ea typeface="Noto Sans JP"/>
              </a:rPr>
              <a:t>DIGITAL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03220"/>
            <a:ext cx="4190999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C95532"/>
                </a:solidFill>
                <a:latin typeface="Noto Sans JP"/>
                <a:ea typeface="Noto Sans JP"/>
              </a:rPr>
              <a:t>チョットだけ、頼みたい。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23260"/>
            <a:ext cx="4229100" cy="891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 lang="ja-JP">
                <a:solidFill>
                  <a:srgbClr val="172F37"/>
                </a:solidFill>
                <a:latin typeface="Noto Sans JP"/>
                <a:ea typeface="Noto Sans JP"/>
              </a:rPr>
              <a:t>スマホ・パソコンの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 lang="ja-JP">
                <a:solidFill>
                  <a:srgbClr val="172F37"/>
                </a:solidFill>
                <a:latin typeface="Noto Sans JP"/>
                <a:ea typeface="Noto Sans JP"/>
              </a:rPr>
              <a:t>「どうして？」を、一緒に。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52900"/>
            <a:ext cx="417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5D6A69"/>
                </a:solidFill>
                <a:latin typeface="Noto Sans JP"/>
                <a:ea typeface="Noto Sans JP"/>
              </a:rPr>
              <a:t>サポートに聞いても、あれこれ試しても解決しない。その不便を、ひとつずつ整理します。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4785360"/>
            <a:ext cx="423672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9301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スマホ・パソコンの設定、トラブル相談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587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情報漏洩の診断・セキュリティ相談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873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操作や使い方のサポート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5753100"/>
            <a:ext cx="0" cy="190500"/>
          </a:xfrm>
          <a:prstGeom prst="line">
            <a:avLst/>
          </a:prstGeom>
          <a:ln w="15240">
            <a:solidFill>
              <a:srgbClr val="C95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67740" y="5737860"/>
            <a:ext cx="4091939" cy="312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lang="ja-JP">
                <a:solidFill>
                  <a:srgbClr val="5D6A69"/>
                </a:solidFill>
                <a:latin typeface="Noto Sans JP"/>
                <a:ea typeface="Noto Sans JP"/>
              </a:rPr>
              <a:t>情報セキュリティ分野の検定合格者・スマホ診断士が対応。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700" y="1706880"/>
            <a:ext cx="4762500" cy="4358640"/>
          </a:xfrm>
          <a:prstGeom prst="roundRect">
            <a:avLst>
              <a:gd name="adj" fmla="val 2500"/>
            </a:avLst>
          </a:prstGeom>
          <a:solidFill>
            <a:srgbClr val="E6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73496" y="1956816"/>
            <a:ext cx="246887" cy="246887"/>
          </a:xfrm>
          <a:prstGeom prst="ellipse">
            <a:avLst/>
          </a:prstGeom>
          <a:noFill/>
          <a:ln w="13970">
            <a:solidFill>
              <a:srgbClr val="172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086094" y="2169414"/>
            <a:ext cx="137160" cy="137160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42076" y="2080260"/>
            <a:ext cx="48006" cy="41148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990082" y="2032253"/>
            <a:ext cx="68580" cy="89155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418320" y="1897380"/>
            <a:ext cx="65532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79" b="0" lang="ja-JP">
                <a:solidFill>
                  <a:srgbClr val="A7B2A5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9780" y="2590800"/>
            <a:ext cx="45034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5D6A69"/>
                </a:solidFill>
                <a:latin typeface="Noto Sans JP"/>
                <a:ea typeface="Noto Sans JP"/>
              </a:rPr>
              <a:t>RESEARCH &amp; CONSULTATION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9780" y="2903220"/>
            <a:ext cx="4190999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C95532"/>
                </a:solidFill>
                <a:latin typeface="Noto Sans JP"/>
                <a:ea typeface="Noto Sans JP"/>
              </a:rPr>
              <a:t>チョットだけ、知りたい。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9780" y="3223260"/>
            <a:ext cx="4229100" cy="891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 lang="ja-JP">
                <a:solidFill>
                  <a:srgbClr val="172F37"/>
                </a:solidFill>
                <a:latin typeface="Noto Sans JP"/>
                <a:ea typeface="Noto Sans JP"/>
              </a:rPr>
              <a:t>誰にも話せなかった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 lang="ja-JP">
                <a:solidFill>
                  <a:srgbClr val="172F37"/>
                </a:solidFill>
                <a:latin typeface="Noto Sans JP"/>
                <a:ea typeface="Noto Sans JP"/>
              </a:rPr>
              <a:t>不安に、向き合う。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9780" y="4152900"/>
            <a:ext cx="417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5D6A69"/>
                </a:solidFill>
                <a:latin typeface="Noto Sans JP"/>
                <a:ea typeface="Noto Sans JP"/>
              </a:rPr>
              <a:t>ご家族や人間関係の悩みを、ひとりで抱え込まないでください。まずは状況をお聞かせください。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59780" y="4785360"/>
            <a:ext cx="423672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859780" y="49301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お子様の家出・いじめ・交友関係の相談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9780" y="51587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近隣・職場・ストーカー被害の状況確認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9780" y="53873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ご家族の家出人探し、知人・恩人探しの相談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59780" y="5753100"/>
            <a:ext cx="0" cy="190500"/>
          </a:xfrm>
          <a:prstGeom prst="line">
            <a:avLst/>
          </a:prstGeom>
          <a:ln w="15240">
            <a:solidFill>
              <a:srgbClr val="C95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58840" y="5737860"/>
            <a:ext cx="4091939" cy="312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lang="ja-JP">
                <a:solidFill>
                  <a:srgbClr val="5D6A69"/>
                </a:solidFill>
                <a:latin typeface="Noto Sans JP"/>
                <a:ea typeface="Noto Sans JP"/>
              </a:rPr>
              <a:t>探偵業届出済。法令・調査目的・プライバシーを確認して対応。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600" y="6438900"/>
            <a:ext cx="975360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9600" y="6553200"/>
            <a:ext cx="76200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lang="ja-JP">
                <a:solidFill>
                  <a:srgbClr val="5D6A69"/>
                </a:solidFill>
                <a:latin typeface="Noto Sans JP"/>
                <a:ea typeface="Noto Sans JP"/>
              </a:rPr>
              <a:t>SAIGONOTORIDE  /  LANDING PAGE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3600" y="6522720"/>
            <a:ext cx="60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5D6A69"/>
                </a:solidFill>
                <a:latin typeface="Noto Sans JP"/>
                <a:ea typeface="Noto Sans JP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006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C95532"/>
                </a:solidFill>
                <a:latin typeface="Noto Sans JP"/>
                <a:ea typeface="Noto Sans JP"/>
              </a:rPr>
              <a:t>WHAT WE CAN DO  /  03–04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92480"/>
            <a:ext cx="9753600" cy="655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 lang="ja-JP">
                <a:solidFill>
                  <a:srgbClr val="172F37"/>
                </a:solidFill>
                <a:latin typeface="Noto Sans JP"/>
                <a:ea typeface="Noto Sans JP"/>
              </a:rPr>
              <a:t>4つの「チョット」に、できることがあります。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706880"/>
            <a:ext cx="4762500" cy="4358640"/>
          </a:xfrm>
          <a:prstGeom prst="roundRect">
            <a:avLst>
              <a:gd name="adj" fmla="val 25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82396" y="1977390"/>
            <a:ext cx="185166" cy="150876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7562" y="1977390"/>
            <a:ext cx="185166" cy="150876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7259" y="2087117"/>
            <a:ext cx="0" cy="226315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2313432"/>
            <a:ext cx="260604" cy="0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97863" y="2087117"/>
            <a:ext cx="0" cy="226315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6413" y="2189988"/>
            <a:ext cx="0" cy="123444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26413" y="2189988"/>
            <a:ext cx="82297" cy="0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08710" y="2189988"/>
            <a:ext cx="0" cy="123444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27220" y="1897380"/>
            <a:ext cx="65532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79" b="0" lang="ja-JP">
                <a:solidFill>
                  <a:srgbClr val="A7B2A5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9080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5D6A69"/>
                </a:solidFill>
                <a:latin typeface="Noto Sans JP"/>
                <a:ea typeface="Noto Sans JP"/>
              </a:rPr>
              <a:t>HOME &amp; REPAIR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03220"/>
            <a:ext cx="4190999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C95532"/>
                </a:solidFill>
                <a:latin typeface="Noto Sans JP"/>
                <a:ea typeface="Noto Sans JP"/>
              </a:rPr>
              <a:t>チョットだけ、工事したい。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23260"/>
            <a:ext cx="4229100" cy="891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 lang="ja-JP">
                <a:solidFill>
                  <a:srgbClr val="172F37"/>
                </a:solidFill>
                <a:latin typeface="Noto Sans JP"/>
                <a:ea typeface="Noto Sans JP"/>
              </a:rPr>
              <a:t>暮らしの「ここだけ」を、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 lang="ja-JP">
                <a:solidFill>
                  <a:srgbClr val="172F37"/>
                </a:solidFill>
                <a:latin typeface="Noto Sans JP"/>
                <a:ea typeface="Noto Sans JP"/>
              </a:rPr>
              <a:t>もっと使いやすく。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52900"/>
            <a:ext cx="417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5D6A69"/>
                </a:solidFill>
                <a:latin typeface="Noto Sans JP"/>
                <a:ea typeface="Noto Sans JP"/>
              </a:rPr>
              <a:t>コンセントひとつ、照明ひとつ。小さな工事や設備のお困りごとも、相談できる窓口です。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4785360"/>
            <a:ext cx="423672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49301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コンセント・照明の設置相談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587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Wi-Fi環境の改善、水道蛇口の設置相談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873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高所作業の相談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" y="5753100"/>
            <a:ext cx="0" cy="190500"/>
          </a:xfrm>
          <a:prstGeom prst="line">
            <a:avLst/>
          </a:prstGeom>
          <a:ln w="15240">
            <a:solidFill>
              <a:srgbClr val="C95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67740" y="5737860"/>
            <a:ext cx="4091939" cy="312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lang="ja-JP">
                <a:solidFill>
                  <a:srgbClr val="5D6A69"/>
                </a:solidFill>
                <a:latin typeface="Noto Sans JP"/>
                <a:ea typeface="Noto Sans JP"/>
              </a:rPr>
              <a:t>資格や許認可が必要な作業は、保有資格と対応範囲を確認します。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700" y="1706880"/>
            <a:ext cx="4762500" cy="4358640"/>
          </a:xfrm>
          <a:prstGeom prst="roundRect">
            <a:avLst>
              <a:gd name="adj" fmla="val 2500"/>
            </a:avLst>
          </a:prstGeom>
          <a:solidFill>
            <a:srgbClr val="E6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65520" y="1970532"/>
            <a:ext cx="164592" cy="130302"/>
          </a:xfrm>
          <a:prstGeom prst="rect">
            <a:avLst/>
          </a:prstGeom>
          <a:solidFill>
            <a:srgbClr val="E6EBE4"/>
          </a:solidFill>
          <a:ln w="7620">
            <a:solidFill>
              <a:srgbClr val="172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147815" y="1970532"/>
            <a:ext cx="0" cy="61721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80354" y="2176272"/>
            <a:ext cx="96011" cy="0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976365" y="2107692"/>
            <a:ext cx="96013" cy="68580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72378" y="2107692"/>
            <a:ext cx="41148" cy="34290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051804" y="2141982"/>
            <a:ext cx="61722" cy="54864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51804" y="2196846"/>
            <a:ext cx="171450" cy="0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23254" y="2196846"/>
            <a:ext cx="0" cy="54864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051804" y="2251710"/>
            <a:ext cx="171450" cy="68580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5955792" y="2279142"/>
            <a:ext cx="96012" cy="41148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880354" y="2279142"/>
            <a:ext cx="75438" cy="0"/>
          </a:xfrm>
          <a:prstGeom prst="line">
            <a:avLst/>
          </a:prstGeom>
          <a:ln w="13716">
            <a:solidFill>
              <a:srgbClr val="172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18320" y="1897380"/>
            <a:ext cx="65532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79" b="0" lang="ja-JP">
                <a:solidFill>
                  <a:srgbClr val="A7B2A5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9780" y="2590800"/>
            <a:ext cx="45034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5D6A69"/>
                </a:solidFill>
                <a:latin typeface="Noto Sans JP"/>
                <a:ea typeface="Noto Sans JP"/>
              </a:rPr>
              <a:t>PERSONAL ASSISTANCE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9780" y="2903220"/>
            <a:ext cx="4190999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ja-JP">
                <a:solidFill>
                  <a:srgbClr val="C95532"/>
                </a:solidFill>
                <a:latin typeface="Noto Sans JP"/>
                <a:ea typeface="Noto Sans JP"/>
              </a:rPr>
              <a:t>チョットだけ、やってほしい。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9780" y="3223260"/>
            <a:ext cx="4229100" cy="891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 lang="ja-JP">
                <a:solidFill>
                  <a:srgbClr val="172F37"/>
                </a:solidFill>
                <a:latin typeface="Noto Sans JP"/>
                <a:ea typeface="Noto Sans JP"/>
              </a:rPr>
              <a:t>頼みにくいことにも、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 lang="ja-JP">
                <a:solidFill>
                  <a:srgbClr val="172F37"/>
                </a:solidFill>
                <a:latin typeface="Noto Sans JP"/>
                <a:ea typeface="Noto Sans JP"/>
              </a:rPr>
              <a:t>相談できる相手を。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9780" y="4152900"/>
            <a:ext cx="417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5D6A69"/>
                </a:solidFill>
                <a:latin typeface="Noto Sans JP"/>
                <a:ea typeface="Noto Sans JP"/>
              </a:rPr>
              <a:t>人に言いづらい用事や、他社で断られた作業も。できる方法があるか、一緒に考えます。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59780" y="4785360"/>
            <a:ext cx="423672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859780" y="49301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買い物・訪問・各種手続きの代行相談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9780" y="51587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ドローン撮影の相談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9780" y="5387340"/>
            <a:ext cx="42595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172F37"/>
                </a:solidFill>
                <a:latin typeface="Noto Sans JP"/>
                <a:ea typeface="Noto Sans JP"/>
              </a:rPr>
              <a:t>＋ ご家族に話しにくい用事、その他の作業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859780" y="5753100"/>
            <a:ext cx="0" cy="190500"/>
          </a:xfrm>
          <a:prstGeom prst="line">
            <a:avLst/>
          </a:prstGeom>
          <a:ln w="15240">
            <a:solidFill>
              <a:srgbClr val="C95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58840" y="5737860"/>
            <a:ext cx="4091939" cy="312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lang="ja-JP">
                <a:solidFill>
                  <a:srgbClr val="5D6A69"/>
                </a:solidFill>
                <a:latin typeface="Noto Sans JP"/>
                <a:ea typeface="Noto Sans JP"/>
              </a:rPr>
              <a:t>法令と当社規約に基づき、対応可能なご依頼をお引き受けします。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9600" y="6438900"/>
            <a:ext cx="975360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9600" y="6553200"/>
            <a:ext cx="76200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lang="ja-JP">
                <a:solidFill>
                  <a:srgbClr val="5D6A69"/>
                </a:solidFill>
                <a:latin typeface="Noto Sans JP"/>
                <a:ea typeface="Noto Sans JP"/>
              </a:rPr>
              <a:t>SAIGONOTORIDE  /  LANDING PAGE DESIGN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3600" y="6522720"/>
            <a:ext cx="60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5D6A69"/>
                </a:solidFill>
                <a:latin typeface="Noto Sans JP"/>
                <a:ea typeface="Noto Sans JP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768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EDB18E"/>
                </a:solidFill>
                <a:latin typeface="Noto Sans JP"/>
                <a:ea typeface="Noto Sans JP"/>
              </a:rPr>
              <a:t>CLEAR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07720"/>
            <a:ext cx="7620000" cy="71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lang="ja-JP">
                <a:solidFill>
                  <a:srgbClr val="FFFEFA"/>
                </a:solidFill>
                <a:latin typeface="Noto Sans JP"/>
                <a:ea typeface="Noto Sans JP"/>
              </a:rPr>
              <a:t>費用は、作業の前に。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40" y="1623060"/>
            <a:ext cx="853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C7D3CC"/>
                </a:solidFill>
                <a:latin typeface="Noto Sans JP"/>
                <a:ea typeface="Noto Sans JP"/>
              </a:rPr>
              <a:t>何に、いくらかかるのか。内容と費用を明確にしてから。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ja-JP">
                <a:solidFill>
                  <a:srgbClr val="C7D3CC"/>
                </a:solidFill>
                <a:latin typeface="Noto Sans JP"/>
                <a:ea typeface="Noto Sans JP"/>
              </a:rPr>
              <a:t>お見積りなしの作業は、お受けしていません。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430780"/>
            <a:ext cx="4762500" cy="1615440"/>
          </a:xfrm>
          <a:prstGeom prst="rect">
            <a:avLst/>
          </a:prstGeom>
          <a:solidFill>
            <a:srgbClr val="172F37"/>
          </a:solidFill>
          <a:ln w="7620">
            <a:solidFill>
              <a:srgbClr val="66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621280"/>
            <a:ext cx="2667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lang="ja-JP">
                <a:solidFill>
                  <a:srgbClr val="FFFEFA"/>
                </a:solidFill>
                <a:latin typeface="Noto Sans JP"/>
                <a:ea typeface="Noto Sans JP"/>
              </a:rPr>
              <a:t>現場出張費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3300" y="2674620"/>
            <a:ext cx="1562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C7D3CC"/>
                </a:solidFill>
                <a:latin typeface="Noto Sans JP"/>
                <a:ea typeface="Noto Sans JP"/>
              </a:rPr>
              <a:t>1回あたりの目安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964180"/>
            <a:ext cx="23622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lang="ja-JP">
                <a:solidFill>
                  <a:srgbClr val="F0B696"/>
                </a:solidFill>
                <a:latin typeface="Georgia"/>
                <a:ea typeface="Georgia"/>
              </a:rPr>
              <a:t>3,000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7540" y="3261360"/>
            <a:ext cx="198119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lang="ja-JP">
                <a:solidFill>
                  <a:srgbClr val="FFFEFA"/>
                </a:solidFill>
                <a:latin typeface="Noto Sans JP"/>
                <a:ea typeface="Noto Sans JP"/>
              </a:rPr>
              <a:t>円〜（税別）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749039"/>
            <a:ext cx="431292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C7D3CC"/>
                </a:solidFill>
                <a:latin typeface="Noto Sans JP"/>
                <a:ea typeface="Noto Sans JP"/>
              </a:rPr>
              <a:t>場所・距離・移動手段で異なります。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00700" y="2430780"/>
            <a:ext cx="4762500" cy="1615440"/>
          </a:xfrm>
          <a:prstGeom prst="rect">
            <a:avLst/>
          </a:prstGeom>
          <a:solidFill>
            <a:srgbClr val="172F37"/>
          </a:solidFill>
          <a:ln w="7620">
            <a:solidFill>
              <a:srgbClr val="66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0" y="2621280"/>
            <a:ext cx="2667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lang="ja-JP">
                <a:solidFill>
                  <a:srgbClr val="FFFEFA"/>
                </a:solidFill>
                <a:latin typeface="Noto Sans JP"/>
                <a:ea typeface="Noto Sans JP"/>
              </a:rPr>
              <a:t>作業費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2674620"/>
            <a:ext cx="1562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C7D3CC"/>
                </a:solidFill>
                <a:latin typeface="Noto Sans JP"/>
                <a:ea typeface="Noto Sans JP"/>
              </a:rPr>
              <a:t>1時間あたりの目安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9300" y="2964180"/>
            <a:ext cx="23622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lang="ja-JP">
                <a:solidFill>
                  <a:srgbClr val="F0B696"/>
                </a:solidFill>
                <a:latin typeface="Georgia"/>
                <a:ea typeface="Georgia"/>
              </a:rPr>
              <a:t>3,000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640" y="3261360"/>
            <a:ext cx="198119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lang="ja-JP">
                <a:solidFill>
                  <a:srgbClr val="FFFEFA"/>
                </a:solidFill>
                <a:latin typeface="Noto Sans JP"/>
                <a:ea typeface="Noto Sans JP"/>
              </a:rPr>
              <a:t>円〜（税別）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300" y="3749039"/>
            <a:ext cx="431292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C7D3CC"/>
                </a:solidFill>
                <a:latin typeface="Noto Sans JP"/>
                <a:ea typeface="Noto Sans JP"/>
              </a:rPr>
              <a:t>作業内容により異なります。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" y="4602480"/>
            <a:ext cx="9753600" cy="0"/>
          </a:xfrm>
          <a:prstGeom prst="line">
            <a:avLst/>
          </a:prstGeom>
          <a:ln w="7620">
            <a:solidFill>
              <a:srgbClr val="40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00" y="4335780"/>
            <a:ext cx="34671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FFFEFA"/>
                </a:solidFill>
                <a:latin typeface="Noto Sans JP"/>
                <a:ea typeface="Noto Sans JP"/>
              </a:rPr>
              <a:t>車両・機器費用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5760" y="4335780"/>
            <a:ext cx="18288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EDB795"/>
                </a:solidFill>
                <a:latin typeface="Noto Sans JP"/>
                <a:ea typeface="Noto Sans JP"/>
              </a:rPr>
              <a:t>別途お見積り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35780"/>
            <a:ext cx="3962399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C7D3CC"/>
                </a:solidFill>
                <a:latin typeface="Noto Sans JP"/>
                <a:ea typeface="Noto Sans JP"/>
              </a:rPr>
              <a:t>車両・使用機器の種類に応じて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" y="4960620"/>
            <a:ext cx="9753600" cy="0"/>
          </a:xfrm>
          <a:prstGeom prst="line">
            <a:avLst/>
          </a:prstGeom>
          <a:ln w="7620">
            <a:solidFill>
              <a:srgbClr val="40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9600" y="4693920"/>
            <a:ext cx="34671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FFFEFA"/>
                </a:solidFill>
                <a:latin typeface="Noto Sans JP"/>
                <a:ea typeface="Noto Sans JP"/>
              </a:rPr>
              <a:t>交通費・移動運搬費・送料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5760" y="4693920"/>
            <a:ext cx="18288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EDB795"/>
                </a:solidFill>
                <a:latin typeface="Noto Sans JP"/>
                <a:ea typeface="Noto Sans JP"/>
              </a:rPr>
              <a:t>別途お見積り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93920"/>
            <a:ext cx="3962399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C7D3CC"/>
                </a:solidFill>
                <a:latin typeface="Noto Sans JP"/>
                <a:ea typeface="Noto Sans JP"/>
              </a:rPr>
              <a:t>人員・資材の移動や運搬、配送等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" y="5318760"/>
            <a:ext cx="9753600" cy="0"/>
          </a:xfrm>
          <a:prstGeom prst="line">
            <a:avLst/>
          </a:prstGeom>
          <a:ln w="7620">
            <a:solidFill>
              <a:srgbClr val="40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9600" y="5052060"/>
            <a:ext cx="34671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FFFEFA"/>
                </a:solidFill>
                <a:latin typeface="Noto Sans JP"/>
                <a:ea typeface="Noto Sans JP"/>
              </a:rPr>
              <a:t>その他経費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5760" y="5052060"/>
            <a:ext cx="18288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EDB795"/>
                </a:solidFill>
                <a:latin typeface="Noto Sans JP"/>
                <a:ea typeface="Noto Sans JP"/>
              </a:rPr>
              <a:t>別途お見積り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52060"/>
            <a:ext cx="3962399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C7D3CC"/>
                </a:solidFill>
                <a:latin typeface="Noto Sans JP"/>
                <a:ea typeface="Noto Sans JP"/>
              </a:rPr>
              <a:t>必要な資材・部品・備品等の購入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600" y="5676900"/>
            <a:ext cx="9753600" cy="0"/>
          </a:xfrm>
          <a:prstGeom prst="line">
            <a:avLst/>
          </a:prstGeom>
          <a:ln w="7620">
            <a:solidFill>
              <a:srgbClr val="40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9600" y="5410200"/>
            <a:ext cx="34671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FFFEFA"/>
                </a:solidFill>
                <a:latin typeface="Noto Sans JP"/>
                <a:ea typeface="Noto Sans JP"/>
              </a:rPr>
              <a:t>処分・廃材費用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5760" y="5410200"/>
            <a:ext cx="18288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>
                <a:solidFill>
                  <a:srgbClr val="EDB795"/>
                </a:solidFill>
                <a:latin typeface="Noto Sans JP"/>
                <a:ea typeface="Noto Sans JP"/>
              </a:rPr>
              <a:t>別途お見積り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10200"/>
            <a:ext cx="3962399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C7D3CC"/>
                </a:solidFill>
                <a:latin typeface="Noto Sans JP"/>
                <a:ea typeface="Noto Sans JP"/>
              </a:rPr>
              <a:t>処分の量・種類に応じて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5882640"/>
            <a:ext cx="975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C7D3CC"/>
                </a:solidFill>
                <a:latin typeface="Noto Sans JP"/>
                <a:ea typeface="Noto Sans JP"/>
              </a:rPr>
              <a:t>※表示金額はすべて税別です。別途消費税がかかります。</a:t>
            </a: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C7D3CC"/>
                </a:solidFill>
                <a:latin typeface="Noto Sans JP"/>
                <a:ea typeface="Noto Sans JP"/>
              </a:rPr>
              <a:t>※現場出張費・作業費・必要経費を含むお見積りを、作業前にご提示します。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600" y="6438900"/>
            <a:ext cx="9753600" cy="0"/>
          </a:xfrm>
          <a:prstGeom prst="line">
            <a:avLst/>
          </a:prstGeom>
          <a:ln w="7620">
            <a:solidFill>
              <a:srgbClr val="4A6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9600" y="6553200"/>
            <a:ext cx="76200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lang="ja-JP">
                <a:solidFill>
                  <a:srgbClr val="C7D3CC"/>
                </a:solidFill>
                <a:latin typeface="Noto Sans JP"/>
                <a:ea typeface="Noto Sans JP"/>
              </a:rPr>
              <a:t>SAIGONOTORIDE  /  LANDING PAGE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3600" y="6522720"/>
            <a:ext cx="60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C7D3CC"/>
                </a:solidFill>
                <a:latin typeface="Noto Sans JP"/>
                <a:ea typeface="Noto Sans JP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1722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C95532"/>
                </a:solidFill>
                <a:latin typeface="Noto Sans JP"/>
                <a:ea typeface="Noto Sans JP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75360"/>
            <a:ext cx="9753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ja-JP">
                <a:solidFill>
                  <a:srgbClr val="172F37"/>
                </a:solidFill>
                <a:latin typeface="Noto Sans JP"/>
                <a:ea typeface="Noto Sans JP"/>
              </a:rPr>
              <a:t>相談から、解決に向けて。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28800"/>
            <a:ext cx="97536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lang="ja-JP">
                <a:solidFill>
                  <a:srgbClr val="5D6A69"/>
                </a:solidFill>
                <a:latin typeface="Noto Sans JP"/>
                <a:ea typeface="Noto Sans JP"/>
              </a:rPr>
              <a:t>うまく説明できなくても、大丈夫。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lang="ja-JP">
                <a:solidFill>
                  <a:srgbClr val="5D6A69"/>
                </a:solidFill>
                <a:latin typeface="Noto Sans JP"/>
                <a:ea typeface="Noto Sans JP"/>
              </a:rPr>
              <a:t>いま困っていることから、お話しください。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2956560"/>
            <a:ext cx="223266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600" y="3169920"/>
            <a:ext cx="1143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0" lang="ja-JP">
                <a:solidFill>
                  <a:srgbClr val="C95532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1740" y="324612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lang="ja-JP">
                <a:solidFill>
                  <a:srgbClr val="5D6A69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54780"/>
            <a:ext cx="2362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lang="ja-JP">
                <a:solidFill>
                  <a:srgbClr val="172F37"/>
                </a:solidFill>
                <a:latin typeface="Noto Sans JP"/>
                <a:ea typeface="Noto Sans JP"/>
              </a:rPr>
              <a:t>まずはご相談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95800"/>
            <a:ext cx="2316480" cy="937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内容・場所・ご希望日時を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お知らせください。ご希望の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連絡方法も伺います。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16580" y="2956560"/>
            <a:ext cx="223266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16580" y="3169920"/>
            <a:ext cx="1143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0" lang="ja-JP">
                <a:solidFill>
                  <a:srgbClr val="C95532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8720" y="324612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lang="ja-JP">
                <a:solidFill>
                  <a:srgbClr val="5D6A69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6580" y="3954780"/>
            <a:ext cx="2362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lang="ja-JP">
                <a:solidFill>
                  <a:srgbClr val="172F37"/>
                </a:solidFill>
                <a:latin typeface="Noto Sans JP"/>
                <a:ea typeface="Noto Sans JP"/>
              </a:rPr>
              <a:t>内容確認・お見積り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6580" y="4495800"/>
            <a:ext cx="2316480" cy="937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対応できることと必要な費用を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ご案内。必要に応じて現地の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状況を確認します。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23560" y="2956560"/>
            <a:ext cx="223266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23560" y="3169920"/>
            <a:ext cx="1143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0" lang="ja-JP">
                <a:solidFill>
                  <a:srgbClr val="C95532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700" y="324612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lang="ja-JP">
                <a:solidFill>
                  <a:srgbClr val="5D6A69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954780"/>
            <a:ext cx="2362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lang="ja-JP">
                <a:solidFill>
                  <a:srgbClr val="172F37"/>
                </a:solidFill>
                <a:latin typeface="Noto Sans JP"/>
                <a:ea typeface="Noto Sans JP"/>
              </a:rPr>
              <a:t>ご納得後に作業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4495800"/>
            <a:ext cx="2316480" cy="937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内容・費用をご確認いただいて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から、ご依頼の範囲で作業に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取りかかります。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30540" y="2956560"/>
            <a:ext cx="223266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30540" y="3169920"/>
            <a:ext cx="1143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0" lang="ja-JP">
                <a:solidFill>
                  <a:srgbClr val="C95532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0540" y="3954780"/>
            <a:ext cx="2362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lang="ja-JP">
                <a:solidFill>
                  <a:srgbClr val="172F37"/>
                </a:solidFill>
                <a:latin typeface="Noto Sans JP"/>
                <a:ea typeface="Noto Sans JP"/>
              </a:rPr>
              <a:t>完了をご確認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0540" y="4495800"/>
            <a:ext cx="2316480" cy="937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作業の結果と完了内容を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ご確認ください。気になる点は、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5D6A69"/>
                </a:solidFill>
                <a:latin typeface="Noto Sans JP"/>
                <a:ea typeface="Noto Sans JP"/>
              </a:rPr>
              <a:t>その場でお伝えください。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684520"/>
            <a:ext cx="9753600" cy="48006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5684520"/>
            <a:ext cx="22860" cy="480060"/>
          </a:xfrm>
          <a:prstGeom prst="rect">
            <a:avLst/>
          </a:prstGeom>
          <a:solidFill>
            <a:srgbClr val="C95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" y="5814060"/>
            <a:ext cx="9372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lang="ja-JP">
                <a:solidFill>
                  <a:srgbClr val="172F37"/>
                </a:solidFill>
                <a:latin typeface="Noto Sans JP"/>
                <a:ea typeface="Noto Sans JP"/>
              </a:rPr>
              <a:t>「まだ依頼するか決めていない」という段階でも、ご相談内容をお聞かせください。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00" y="6438900"/>
            <a:ext cx="975360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600" y="6553200"/>
            <a:ext cx="76200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lang="ja-JP">
                <a:solidFill>
                  <a:srgbClr val="5D6A69"/>
                </a:solidFill>
                <a:latin typeface="Noto Sans JP"/>
                <a:ea typeface="Noto Sans JP"/>
              </a:rPr>
              <a:t>SAIGONOTORIDE  /  LANDING PAGE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3600" y="6522720"/>
            <a:ext cx="60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5D6A69"/>
                </a:solidFill>
                <a:latin typeface="Noto Sans JP"/>
                <a:ea typeface="Noto Sans JP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3340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C95532"/>
                </a:solidFill>
                <a:latin typeface="Noto Sans JP"/>
                <a:ea typeface="Noto Sans JP"/>
              </a:rP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91540"/>
            <a:ext cx="335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ja-JP">
                <a:solidFill>
                  <a:srgbClr val="172F37"/>
                </a:solidFill>
                <a:latin typeface="Noto Sans JP"/>
                <a:ea typeface="Noto Sans JP"/>
              </a:rPr>
              <a:t>ご相談の前に。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760220"/>
            <a:ext cx="271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ja-JP">
                <a:solidFill>
                  <a:srgbClr val="5D6A69"/>
                </a:solidFill>
                <a:latin typeface="Noto Sans JP"/>
                <a:ea typeface="Noto Sans JP"/>
              </a:rPr>
              <a:t>気になる疑問に、</a:t>
            </a:r>
          </a:p>
          <a:p>
            <a:pPr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ja-JP">
                <a:solidFill>
                  <a:srgbClr val="5D6A69"/>
                </a:solidFill>
                <a:latin typeface="Noto Sans JP"/>
                <a:ea typeface="Noto Sans JP"/>
              </a:rPr>
              <a:t>お答えします。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71900" y="693420"/>
            <a:ext cx="6591300" cy="0"/>
          </a:xfrm>
          <a:prstGeom prst="line">
            <a:avLst/>
          </a:prstGeom>
          <a:ln w="7620">
            <a:solidFill>
              <a:srgbClr val="CBD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87140" y="845820"/>
            <a:ext cx="35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ja-JP">
                <a:solidFill>
                  <a:srgbClr val="C95532"/>
                </a:solidFill>
                <a:latin typeface="Georgia"/>
                <a:ea typeface="Georgia"/>
              </a:rPr>
              <a:t>Q.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0999" y="861060"/>
            <a:ext cx="617220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lang="ja-JP">
                <a:solidFill>
                  <a:srgbClr val="172F37"/>
                </a:solidFill>
                <a:latin typeface="Noto Sans JP"/>
                <a:ea typeface="Noto Sans JP"/>
              </a:rPr>
              <a:t>小さな用事ひとつでも、相談できますか？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0999" y="122682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ja-JP">
                <a:solidFill>
                  <a:srgbClr val="5D6A69"/>
                </a:solidFill>
                <a:latin typeface="Noto Sans JP"/>
                <a:ea typeface="Noto Sans JP"/>
              </a:rPr>
              <a:t>はい。「チョットだけ頼みたい」というご相談からお聞きします。内容・場所・ご希望の日時をお知らせください。対応可否と必要な費用をご案内します。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71900" y="1790700"/>
            <a:ext cx="6591300" cy="0"/>
          </a:xfrm>
          <a:prstGeom prst="line">
            <a:avLst/>
          </a:prstGeom>
          <a:ln w="7620">
            <a:solidFill>
              <a:srgbClr val="CBD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87140" y="1943100"/>
            <a:ext cx="35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ja-JP">
                <a:solidFill>
                  <a:srgbClr val="C95532"/>
                </a:solidFill>
                <a:latin typeface="Georgia"/>
                <a:ea typeface="Georgia"/>
              </a:rPr>
              <a:t>Q.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1958340"/>
            <a:ext cx="617220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lang="ja-JP">
                <a:solidFill>
                  <a:srgbClr val="172F37"/>
                </a:solidFill>
                <a:latin typeface="Noto Sans JP"/>
                <a:ea typeface="Noto Sans JP"/>
              </a:rPr>
              <a:t>どの地域まで対応していますか？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0999" y="232410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ja-JP">
                <a:solidFill>
                  <a:srgbClr val="5D6A69"/>
                </a:solidFill>
                <a:latin typeface="Noto Sans JP"/>
                <a:ea typeface="Noto Sans JP"/>
              </a:rPr>
              <a:t>全国からご相談を承ります。実際の訪問可否や日程、出張費・交通費は、ご依頼内容と地域に応じて個別にお見積りします。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71900" y="2887980"/>
            <a:ext cx="6591300" cy="0"/>
          </a:xfrm>
          <a:prstGeom prst="line">
            <a:avLst/>
          </a:prstGeom>
          <a:ln w="7620">
            <a:solidFill>
              <a:srgbClr val="CBD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87140" y="3040380"/>
            <a:ext cx="35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ja-JP">
                <a:solidFill>
                  <a:srgbClr val="C95532"/>
                </a:solidFill>
                <a:latin typeface="Georgia"/>
                <a:ea typeface="Georgia"/>
              </a:rPr>
              <a:t>Q.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99" y="3055620"/>
            <a:ext cx="617220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lang="ja-JP">
                <a:solidFill>
                  <a:srgbClr val="172F37"/>
                </a:solidFill>
                <a:latin typeface="Noto Sans JP"/>
                <a:ea typeface="Noto Sans JP"/>
              </a:rPr>
              <a:t>料金はいつ分かりますか？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0999" y="342138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ja-JP">
                <a:solidFill>
                  <a:srgbClr val="5D6A69"/>
                </a:solidFill>
                <a:latin typeface="Noto Sans JP"/>
                <a:ea typeface="Noto Sans JP"/>
              </a:rPr>
              <a:t>作業前に、内容と費用をまとめたお見積りをご提示します。お見積りなしでの作業はお受けしていません。車両・機器・資材などの費用が必要な場合も、事前にご案内します。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71900" y="3985260"/>
            <a:ext cx="6591300" cy="0"/>
          </a:xfrm>
          <a:prstGeom prst="line">
            <a:avLst/>
          </a:prstGeom>
          <a:ln w="7620">
            <a:solidFill>
              <a:srgbClr val="CBD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87140" y="4137660"/>
            <a:ext cx="35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ja-JP">
                <a:solidFill>
                  <a:srgbClr val="C95532"/>
                </a:solidFill>
                <a:latin typeface="Georgia"/>
                <a:ea typeface="Georgia"/>
              </a:rPr>
              <a:t>Q.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0999" y="4152900"/>
            <a:ext cx="617220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lang="ja-JP">
                <a:solidFill>
                  <a:srgbClr val="172F37"/>
                </a:solidFill>
                <a:latin typeface="Noto Sans JP"/>
                <a:ea typeface="Noto Sans JP"/>
              </a:rPr>
              <a:t>家族や職場に知られずに相談できますか？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0999" y="451866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ja-JP">
                <a:solidFill>
                  <a:srgbClr val="5D6A69"/>
                </a:solidFill>
                <a:latin typeface="Noto Sans JP"/>
                <a:ea typeface="Noto Sans JP"/>
              </a:rPr>
              <a:t>ご相談内容と個人情報は、法令に基づき適切に取り扱います。連絡方法や時間帯にご希望がある場合は、最初にお伝えください。法令上必要な場合など、ご希望に添えないこともあります。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71900" y="5082540"/>
            <a:ext cx="6591300" cy="0"/>
          </a:xfrm>
          <a:prstGeom prst="line">
            <a:avLst/>
          </a:prstGeom>
          <a:ln w="7620">
            <a:solidFill>
              <a:srgbClr val="CBD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87140" y="5234940"/>
            <a:ext cx="35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ja-JP">
                <a:solidFill>
                  <a:srgbClr val="C95532"/>
                </a:solidFill>
                <a:latin typeface="Georgia"/>
                <a:ea typeface="Georgia"/>
              </a:rPr>
              <a:t>Q.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0999" y="5250180"/>
            <a:ext cx="617220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lang="ja-JP">
                <a:solidFill>
                  <a:srgbClr val="172F37"/>
                </a:solidFill>
                <a:latin typeface="Noto Sans JP"/>
                <a:ea typeface="Noto Sans JP"/>
              </a:rPr>
              <a:t>どんなことでも依頼できますか？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0999" y="561594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ja-JP">
                <a:solidFill>
                  <a:srgbClr val="5D6A69"/>
                </a:solidFill>
                <a:latin typeface="Noto Sans JP"/>
                <a:ea typeface="Noto Sans JP"/>
              </a:rPr>
              <a:t>法令と当社の規約に適合し、保有資格・許認可の範囲で対応できるご依頼に限ります。調査や各種代行も、目的や内容を確認したうえで対応可否をご案内します。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71900" y="6179820"/>
            <a:ext cx="6591300" cy="0"/>
          </a:xfrm>
          <a:prstGeom prst="line">
            <a:avLst/>
          </a:prstGeom>
          <a:ln w="7620">
            <a:solidFill>
              <a:srgbClr val="CBD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" y="6438900"/>
            <a:ext cx="975360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9600" y="6553200"/>
            <a:ext cx="76200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lang="ja-JP">
                <a:solidFill>
                  <a:srgbClr val="5D6A69"/>
                </a:solidFill>
                <a:latin typeface="Noto Sans JP"/>
                <a:ea typeface="Noto Sans JP"/>
              </a:rPr>
              <a:t>SAIGONOTORIDE  /  LANDING PAGE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3600" y="6522720"/>
            <a:ext cx="60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5D6A69"/>
                </a:solidFill>
                <a:latin typeface="Noto Sans JP"/>
                <a:ea typeface="Noto Sans JP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lang="ja-JP">
                <a:solidFill>
                  <a:srgbClr val="C95532"/>
                </a:solidFill>
                <a:latin typeface="Noto Sans JP"/>
                <a:ea typeface="Noto Sans JP"/>
              </a:rPr>
              <a:t>LET’S FIND A WAY.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54380"/>
            <a:ext cx="9753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580" b="1" lang="ja-JP">
                <a:solidFill>
                  <a:srgbClr val="172F37"/>
                </a:solidFill>
                <a:latin typeface="Noto Sans JP"/>
                <a:ea typeface="Noto Sans JP"/>
              </a:rPr>
              <a:t>「こんなこと、頼めるかな」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580" b="1" lang="ja-JP">
                <a:solidFill>
                  <a:srgbClr val="172F37"/>
                </a:solidFill>
                <a:latin typeface="Noto Sans JP"/>
                <a:ea typeface="Noto Sans JP"/>
              </a:rPr>
              <a:t>そのまま、お聞かせください。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11680"/>
            <a:ext cx="975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lang="ja-JP">
                <a:solidFill>
                  <a:srgbClr val="172F37"/>
                </a:solidFill>
                <a:latin typeface="Noto Sans JP"/>
                <a:ea typeface="Noto Sans JP"/>
              </a:rPr>
              <a:t>受付時間 9:00–24:00　年中無休 ／ 全国対応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636520"/>
            <a:ext cx="3048000" cy="1409700"/>
          </a:xfrm>
          <a:prstGeom prst="rect">
            <a:avLst/>
          </a:prstGeom>
          <a:solidFill>
            <a:srgbClr val="FCF5EE"/>
          </a:solidFill>
          <a:ln w="7620">
            <a:solidFill>
              <a:srgbClr val="D8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636520"/>
            <a:ext cx="3048000" cy="22860"/>
          </a:xfrm>
          <a:prstGeom prst="rect">
            <a:avLst/>
          </a:prstGeom>
          <a:solidFill>
            <a:srgbClr val="C95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849880"/>
            <a:ext cx="2667000" cy="335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lang="ja-JP">
                <a:solidFill>
                  <a:srgbClr val="172F37"/>
                </a:solidFill>
                <a:latin typeface="Noto Sans JP"/>
                <a:ea typeface="Noto Sans JP"/>
              </a:rPr>
              <a:t>電話で相談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25374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5D6A69"/>
                </a:solidFill>
                <a:latin typeface="Noto Sans JP"/>
                <a:ea typeface="Noto Sans JP"/>
              </a:rPr>
              <a:t>お急ぎの場合におすすめです。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3642360"/>
            <a:ext cx="2590800" cy="243840"/>
          </a:xfrm>
          <a:prstGeom prst="roundRect">
            <a:avLst>
              <a:gd name="adj" fmla="val 3000"/>
            </a:avLst>
          </a:prstGeom>
          <a:solidFill>
            <a:srgbClr val="FCF5EE"/>
          </a:solidFill>
          <a:ln w="7620">
            <a:solidFill>
              <a:srgbClr val="D8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300" y="3680460"/>
            <a:ext cx="24384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5D6A69"/>
                </a:solidFill>
                <a:latin typeface="Noto Sans JP"/>
                <a:ea typeface="Noto Sans JP"/>
              </a:rPr>
              <a:t>電話番号：準備中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2399" y="2636520"/>
            <a:ext cx="3048000" cy="1409700"/>
          </a:xfrm>
          <a:prstGeom prst="rect">
            <a:avLst/>
          </a:prstGeom>
          <a:solidFill>
            <a:srgbClr val="FFFEFA"/>
          </a:solidFill>
          <a:ln w="7620">
            <a:solidFill>
              <a:srgbClr val="D8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62399" y="2636520"/>
            <a:ext cx="3048000" cy="2286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2900" y="2849880"/>
            <a:ext cx="2667000" cy="335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lang="ja-JP">
                <a:solidFill>
                  <a:srgbClr val="172F37"/>
                </a:solidFill>
                <a:latin typeface="Noto Sans JP"/>
                <a:ea typeface="Noto Sans JP"/>
              </a:rPr>
              <a:t>メールで相談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900" y="325374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5D6A69"/>
                </a:solidFill>
                <a:latin typeface="Noto Sans JP"/>
                <a:ea typeface="Noto Sans JP"/>
              </a:rPr>
              <a:t>文章で、じっくりご相談。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52900" y="3642360"/>
            <a:ext cx="2590800" cy="243840"/>
          </a:xfrm>
          <a:prstGeom prst="roundRect">
            <a:avLst>
              <a:gd name="adj" fmla="val 3000"/>
            </a:avLst>
          </a:prstGeom>
          <a:solidFill>
            <a:srgbClr val="FFFEFA"/>
          </a:solidFill>
          <a:ln w="7620">
            <a:solidFill>
              <a:srgbClr val="D8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9100" y="3680460"/>
            <a:ext cx="24384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5D6A69"/>
                </a:solidFill>
                <a:latin typeface="Noto Sans JP"/>
                <a:ea typeface="Noto Sans JP"/>
              </a:rPr>
              <a:t>メールアドレス：準備中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636520"/>
            <a:ext cx="3048000" cy="1409700"/>
          </a:xfrm>
          <a:prstGeom prst="rect">
            <a:avLst/>
          </a:prstGeom>
          <a:solidFill>
            <a:srgbClr val="FFFEFA"/>
          </a:solidFill>
          <a:ln w="7620">
            <a:solidFill>
              <a:srgbClr val="D8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2636520"/>
            <a:ext cx="3048000" cy="2286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5700" y="2849880"/>
            <a:ext cx="2667000" cy="335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lang="ja-JP">
                <a:solidFill>
                  <a:srgbClr val="172F37"/>
                </a:solidFill>
                <a:latin typeface="Noto Sans JP"/>
                <a:ea typeface="Noto Sans JP"/>
              </a:rPr>
              <a:t>LINEで相談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5700" y="325374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5D6A69"/>
                </a:solidFill>
                <a:latin typeface="Noto Sans JP"/>
                <a:ea typeface="Noto Sans JP"/>
              </a:rPr>
              <a:t>いつものLINEから、気軽に。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5700" y="3642360"/>
            <a:ext cx="2590800" cy="243840"/>
          </a:xfrm>
          <a:prstGeom prst="roundRect">
            <a:avLst>
              <a:gd name="adj" fmla="val 3000"/>
            </a:avLst>
          </a:prstGeom>
          <a:solidFill>
            <a:srgbClr val="FFFEFA"/>
          </a:solidFill>
          <a:ln w="7620">
            <a:solidFill>
              <a:srgbClr val="D8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1899" y="3680460"/>
            <a:ext cx="24384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5D6A69"/>
                </a:solidFill>
                <a:latin typeface="Noto Sans JP"/>
                <a:ea typeface="Noto Sans JP"/>
              </a:rPr>
              <a:t>LINE窓口：準備中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190999"/>
            <a:ext cx="9753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lang="ja-JP">
                <a:solidFill>
                  <a:srgbClr val="5D6A69"/>
                </a:solidFill>
                <a:latin typeface="Noto Sans JP"/>
                <a:ea typeface="Noto Sans JP"/>
              </a:rPr>
              <a:t>現在、お問い合わせ窓口は準備中です。連絡先の公開後にご相談を受け付けます。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" y="4716780"/>
            <a:ext cx="975360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09600" y="5128260"/>
            <a:ext cx="274320" cy="22098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" y="5059680"/>
            <a:ext cx="76200" cy="11430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" y="5059680"/>
            <a:ext cx="76200" cy="11430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7720" y="5059680"/>
            <a:ext cx="76200" cy="114300"/>
          </a:xfrm>
          <a:prstGeom prst="rect">
            <a:avLst/>
          </a:prstGeom>
          <a:solidFill>
            <a:srgbClr val="17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8660" y="5227320"/>
            <a:ext cx="76200" cy="121920"/>
          </a:xfrm>
          <a:prstGeom prst="roundRect">
            <a:avLst>
              <a:gd name="adj" fmla="val 3000"/>
            </a:avLst>
          </a:prstGeom>
          <a:solidFill>
            <a:srgbClr val="FFF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7710" y="5280660"/>
            <a:ext cx="38100" cy="38100"/>
          </a:xfrm>
          <a:prstGeom prst="ellipse">
            <a:avLst/>
          </a:prstGeom>
          <a:solidFill>
            <a:srgbClr val="C95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219" y="5052060"/>
            <a:ext cx="2209800" cy="12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lang="ja-JP">
                <a:solidFill>
                  <a:srgbClr val="172F37"/>
                </a:solidFill>
                <a:latin typeface="Noto Sans JP"/>
                <a:ea typeface="Noto Sans JP"/>
              </a:rPr>
              <a:t>便利屋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219" y="5158740"/>
            <a:ext cx="23622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ja-JP">
                <a:solidFill>
                  <a:srgbClr val="172F37"/>
                </a:solidFill>
                <a:latin typeface="Noto Sans JP"/>
                <a:ea typeface="Noto Sans JP"/>
              </a:rPr>
              <a:t>サイゴノトリデ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5585460"/>
            <a:ext cx="3962399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5D6A69"/>
                </a:solidFill>
                <a:latin typeface="Noto Sans JP"/>
                <a:ea typeface="Noto Sans JP"/>
              </a:rPr>
              <a:t>神奈川・三浦から、全国の「困った」へ。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5D6A69"/>
                </a:solidFill>
                <a:latin typeface="Noto Sans JP"/>
                <a:ea typeface="Noto Sans JP"/>
              </a:rPr>
              <a:t>小さな依頼に、専門性と誠実さで向き合います。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38800" y="4991100"/>
            <a:ext cx="472440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5D6A69"/>
                </a:solidFill>
                <a:latin typeface="Noto Sans JP"/>
                <a:ea typeface="Noto Sans JP"/>
              </a:rPr>
              <a:t>運営会社　コードシスアーク株式会社</a:t>
            </a:r>
          </a:p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5D6A69"/>
                </a:solidFill>
                <a:latin typeface="Noto Sans JP"/>
                <a:ea typeface="Noto Sans JP"/>
              </a:rPr>
              <a:t>所在地　　神奈川県三浦市栄町15-21</a:t>
            </a:r>
          </a:p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5D6A69"/>
                </a:solidFill>
                <a:latin typeface="Noto Sans JP"/>
                <a:ea typeface="Noto Sans JP"/>
              </a:rPr>
              <a:t>　　　　　コードシスアークビル3階2号室</a:t>
            </a:r>
          </a:p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5D6A69"/>
                </a:solidFill>
                <a:latin typeface="Noto Sans JP"/>
                <a:ea typeface="Noto Sans JP"/>
              </a:rPr>
              <a:t>営業時間　年中無休 9:00〜24:00</a:t>
            </a:r>
          </a:p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lang="ja-JP">
                <a:solidFill>
                  <a:srgbClr val="5D6A69"/>
                </a:solidFill>
                <a:latin typeface="Noto Sans JP"/>
                <a:ea typeface="Noto Sans JP"/>
              </a:rPr>
              <a:t>対応地域　全国（訪問可否等は個別にご案内）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600" y="6438900"/>
            <a:ext cx="9753600" cy="0"/>
          </a:xfrm>
          <a:prstGeom prst="line">
            <a:avLst/>
          </a:prstGeom>
          <a:ln w="7620">
            <a:solidFill>
              <a:srgbClr val="D8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9600" y="6553200"/>
            <a:ext cx="76200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lang="ja-JP">
                <a:solidFill>
                  <a:srgbClr val="5D6A69"/>
                </a:solidFill>
                <a:latin typeface="Noto Sans JP"/>
                <a:ea typeface="Noto Sans JP"/>
              </a:rPr>
              <a:t>SAIGONOTORIDE  /  LANDING PAGE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3600" y="6522720"/>
            <a:ext cx="60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lang="ja-JP">
                <a:solidFill>
                  <a:srgbClr val="5D6A69"/>
                </a:solidFill>
                <a:latin typeface="Noto Sans JP"/>
                <a:ea typeface="Noto Sans JP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便利屋サイゴノトリデ｜ランディングページ デザイン案</dc:title>
  <dc:subject>Canva取り込み用・文字と図形を編集できる8セクション</dc:subject>
  <dc:creator>コードシスアーク株式会社向け制作案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